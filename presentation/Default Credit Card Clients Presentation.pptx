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5" r:id="rId7"/>
    <p:sldId id="268" r:id="rId8"/>
    <p:sldId id="273" r:id="rId9"/>
    <p:sldId id="274" r:id="rId10"/>
    <p:sldId id="278" r:id="rId11"/>
    <p:sldId id="276" r:id="rId12"/>
    <p:sldId id="266" r:id="rId13"/>
    <p:sldId id="279" r:id="rId14"/>
    <p:sldId id="272" r:id="rId15"/>
    <p:sldId id="270" r:id="rId16"/>
    <p:sldId id="275" r:id="rId17"/>
    <p:sldId id="261" r:id="rId18"/>
    <p:sldId id="262" r:id="rId19"/>
    <p:sldId id="263" r:id="rId20"/>
    <p:sldId id="277" r:id="rId21"/>
    <p:sldId id="26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2650CA05-0BB9-4240-9A39-E83B0105273A}">
          <p14:sldIdLst>
            <p14:sldId id="256"/>
          </p14:sldIdLst>
        </p14:section>
        <p14:section name="Introduction" id="{0D633700-F2D1-194E-B264-E6F331DD21AD}">
          <p14:sldIdLst>
            <p14:sldId id="257"/>
          </p14:sldIdLst>
        </p14:section>
        <p14:section name="Literature Review of Journal Articles" id="{BAAC5FFB-0E60-1F44-9C65-6E7DAB039053}">
          <p14:sldIdLst>
            <p14:sldId id="258"/>
          </p14:sldIdLst>
        </p14:section>
        <p14:section name="Research Questions and Methods" id="{1D47764C-4B13-844B-BBB4-36191300044A}">
          <p14:sldIdLst>
            <p14:sldId id="259"/>
            <p14:sldId id="260"/>
          </p14:sldIdLst>
        </p14:section>
        <p14:section name="Results and Discussion" id="{E0FF1C3B-EB94-6641-A6F8-D9790BFC1549}">
          <p14:sldIdLst>
            <p14:sldId id="265"/>
            <p14:sldId id="268"/>
            <p14:sldId id="273"/>
            <p14:sldId id="274"/>
            <p14:sldId id="278"/>
            <p14:sldId id="276"/>
            <p14:sldId id="266"/>
            <p14:sldId id="279"/>
            <p14:sldId id="272"/>
            <p14:sldId id="270"/>
            <p14:sldId id="275"/>
            <p14:sldId id="261"/>
            <p14:sldId id="262"/>
          </p14:sldIdLst>
        </p14:section>
        <p14:section name="Conclusion" id="{6FE29946-4C38-C74F-81BC-5023B6B2694E}">
          <p14:sldIdLst>
            <p14:sldId id="263"/>
          </p14:sldIdLst>
        </p14:section>
        <p14:section name="References" id="{34152605-FA3A-3D4A-BEF4-515E88BCF04F}">
          <p14:sldIdLst>
            <p14:sldId id="277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33DA20-FCFF-AB5F-25A9-ACD74636D12F}" name="Sharma, Preeti" initials="SP" userId="S::psharm24@depaul.edu::c643c4e2-8082-44ae-8bd6-176b6baba95e" providerId="AD"/>
  <p188:author id="{0510CFDC-3362-E327-6779-5C29B443401B}" name="Asis, Alexa" initials="" userId="S::AASIS@depaul.edu::8cedac68-f22d-487d-a426-08733bd2c0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CE59AA-E0FA-019A-5362-2D2A336991D5}" v="5" dt="2025-06-11T02:24:28.223"/>
    <p1510:client id="{73E4C4FA-257A-D846-91B4-91C832DF5EC6}" v="2104" dt="2025-06-11T03:45:54.324"/>
    <p1510:client id="{8F3E25BB-A403-1698-B37E-E586CBEB8C54}" v="512" dt="2025-06-11T03:37:28.651"/>
    <p1510:client id="{B1593953-5118-63FD-CD8F-3FB3F3D7CC0E}" v="291" dt="2025-06-11T03:10:01.686"/>
    <p1510:client id="{B7411EB3-58DE-FD70-9492-7A1C252EA874}" v="19" dt="2025-06-10T22:59:12.7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234F1-CF52-2844-8EEA-1574F00D0193}" type="datetimeFigureOut">
              <a:rPr lang="en-US" smtClean="0"/>
              <a:t>6/10/25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DC150A-0459-B342-878F-2F9E8DC77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C150A-0459-B342-878F-2F9E8DC77A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631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C150A-0459-B342-878F-2F9E8DC77AB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28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C150A-0459-B342-878F-2F9E8DC77AB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57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51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2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14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594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33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95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02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92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34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6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7105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22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88581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059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04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30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7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7260/bae/927" TargetMode="External"/><Relationship Id="rId7" Type="http://schemas.openxmlformats.org/officeDocument/2006/relationships/hyperlink" Target="https://doi.org/10.3846/1611-1699.2009.10.233-240" TargetMode="External"/><Relationship Id="rId2" Type="http://schemas.openxmlformats.org/officeDocument/2006/relationships/hyperlink" Target="https://doi.org/10.1016/j.matpr.2021.04.588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037/0893-164x.18.2.170" TargetMode="External"/><Relationship Id="rId5" Type="http://schemas.openxmlformats.org/officeDocument/2006/relationships/hyperlink" Target="https://doi.org/10.1051/matecconf/20167602039" TargetMode="External"/><Relationship Id="rId4" Type="http://schemas.openxmlformats.org/officeDocument/2006/relationships/hyperlink" Target="https://doi.org/10.1016/j.ejor.2006.09.100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287/opre.42.4.589" TargetMode="External"/><Relationship Id="rId2" Type="http://schemas.openxmlformats.org/officeDocument/2006/relationships/hyperlink" Target="https://doi.org/10.1017/s1474747215000232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016/j.eswa.2007.12.020" TargetMode="External"/><Relationship Id="rId4" Type="http://schemas.openxmlformats.org/officeDocument/2006/relationships/hyperlink" Target="https://hrcak.srce.hr/9665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4337" y="1265314"/>
            <a:ext cx="4299666" cy="3249131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accent2"/>
                </a:solidFill>
                <a:cs typeface="Times New Roman" panose="02020603050405020304" pitchFamily="18" charset="0"/>
              </a:rPr>
              <a:t>Default of Credit Card Clients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74336" y="4534766"/>
            <a:ext cx="4299666" cy="1297074"/>
          </a:xfr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400">
                <a:solidFill>
                  <a:schemeClr val="tx1"/>
                </a:solidFill>
                <a:ea typeface="Times New Roman" panose="02020603050405020304" pitchFamily="18" charset="0"/>
                <a:cs typeface="Times New Roman"/>
              </a:rPr>
              <a:t>Danny </a:t>
            </a:r>
            <a:r>
              <a:rPr lang="en-US" sz="1400" err="1">
                <a:solidFill>
                  <a:schemeClr val="tx1"/>
                </a:solidFill>
                <a:ea typeface="Times New Roman" panose="02020603050405020304" pitchFamily="18" charset="0"/>
                <a:cs typeface="Times New Roman"/>
              </a:rPr>
              <a:t>Grozdev</a:t>
            </a:r>
            <a:r>
              <a:rPr lang="en-US" sz="1400">
                <a:solidFill>
                  <a:schemeClr val="tx1"/>
                </a:solidFill>
                <a:ea typeface="Times New Roman" panose="02020603050405020304" pitchFamily="18" charset="0"/>
                <a:cs typeface="Times New Roman"/>
              </a:rPr>
              <a:t>, </a:t>
            </a:r>
            <a:r>
              <a:rPr lang="en-US" sz="140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/>
              </a:rPr>
              <a:t>Alexa Asis, Corey Jordan-Zamora, Preeti Sharma, Peter Szczepanski</a:t>
            </a:r>
            <a:endParaRPr lang="en-US">
              <a:solidFill>
                <a:schemeClr val="tx1"/>
              </a:solidFill>
              <a:cs typeface="Times New Roman"/>
            </a:endParaRPr>
          </a:p>
          <a:p>
            <a:pPr algn="l">
              <a:lnSpc>
                <a:spcPct val="90000"/>
              </a:lnSpc>
            </a:pPr>
            <a:r>
              <a:rPr lang="en-US" sz="1400">
                <a:solidFill>
                  <a:schemeClr val="tx1"/>
                </a:solidFill>
                <a:cs typeface="Times New Roman"/>
              </a:rPr>
              <a:t>DePaul University</a:t>
            </a:r>
          </a:p>
          <a:p>
            <a:pPr algn="l">
              <a:lnSpc>
                <a:spcPct val="90000"/>
              </a:lnSpc>
            </a:pPr>
            <a:r>
              <a:rPr lang="en-US" sz="1400">
                <a:solidFill>
                  <a:schemeClr val="tx1"/>
                </a:solidFill>
                <a:cs typeface="Times New Roman"/>
              </a:rPr>
              <a:t>DSC324/424 Advanced Data Analysis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DC99427B-A97E-40A3-B1FD-4557346C6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Credit card">
            <a:extLst>
              <a:ext uri="{FF2B5EF4-FFF2-40B4-BE49-F238E27FC236}">
                <a16:creationId xmlns:a16="http://schemas.microsoft.com/office/drawing/2014/main" id="{5D660CFD-6EAD-04B4-6662-8BE53DD5E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CFD7B-AC0A-03F9-2950-49978CD61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accent2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3FDF9-047E-140C-A60E-AE47C3652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1486"/>
            <a:ext cx="10515600" cy="549138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85750"/>
            <a:r>
              <a:rPr lang="en-US" sz="2400" dirty="0"/>
              <a:t>What is Credit Card Default?</a:t>
            </a:r>
          </a:p>
          <a:p>
            <a:pPr marL="685800" lvl="1" indent="-285750">
              <a:buFont typeface="Courier New" charset="2"/>
              <a:buChar char="o"/>
            </a:pPr>
            <a:r>
              <a:rPr lang="en-US" sz="2000" dirty="0"/>
              <a:t>Cardholder fails to meet payment obligations </a:t>
            </a:r>
            <a:r>
              <a:rPr lang="en-US" sz="2000" dirty="0">
                <a:sym typeface="Wingdings" pitchFamily="2" charset="2"/>
              </a:rPr>
              <a:t> did not </a:t>
            </a:r>
            <a:r>
              <a:rPr lang="en-US" sz="2000" dirty="0"/>
              <a:t>pay the minimum required credit card payments</a:t>
            </a:r>
          </a:p>
          <a:p>
            <a:pPr marL="1085850" lvl="2" indent="-285750">
              <a:buFont typeface="Courier New" charset="2"/>
              <a:buChar char="o"/>
            </a:pPr>
            <a:r>
              <a:rPr lang="en-US" sz="1800" dirty="0"/>
              <a:t>Not bankruptcy</a:t>
            </a:r>
          </a:p>
          <a:p>
            <a:pPr marL="1085850" lvl="2" indent="-285750">
              <a:buFont typeface="Courier New" charset="2"/>
              <a:buChar char="o"/>
            </a:pPr>
            <a:r>
              <a:rPr lang="en-US" sz="1800" dirty="0"/>
              <a:t>Can severely damage credit scores </a:t>
            </a:r>
            <a:r>
              <a:rPr lang="en-US" sz="1800" dirty="0">
                <a:sym typeface="Wingdings" pitchFamily="2" charset="2"/>
              </a:rPr>
              <a:t> lead </a:t>
            </a:r>
            <a:r>
              <a:rPr lang="en-US" sz="1800" dirty="0"/>
              <a:t>to legal action/account closure if the default continues over time</a:t>
            </a:r>
          </a:p>
          <a:p>
            <a:pPr marL="285750" indent="-285750"/>
            <a:r>
              <a:rPr lang="en-US" sz="2400" dirty="0"/>
              <a:t>Why Does it Matter?</a:t>
            </a:r>
          </a:p>
          <a:p>
            <a:pPr marL="685800" lvl="1">
              <a:buFont typeface="Courier New" charset="2"/>
              <a:buChar char="o"/>
            </a:pPr>
            <a:r>
              <a:rPr lang="en-US" sz="2000" dirty="0"/>
              <a:t>Accurately predicting default helps banks manage risk and prevent losses</a:t>
            </a:r>
          </a:p>
          <a:p>
            <a:pPr marL="1085850" lvl="2" indent="-285750">
              <a:buFont typeface="Courier New" charset="2"/>
              <a:buChar char="o"/>
            </a:pPr>
            <a:r>
              <a:rPr lang="en-US" sz="1800" dirty="0">
                <a:ea typeface="+mn-lt"/>
                <a:cs typeface="+mn-lt"/>
              </a:rPr>
              <a:t>Lenders can identify risky clients early, make smarter lending decisions, and keep the financial system stable</a:t>
            </a:r>
            <a:endParaRPr lang="en-US" sz="1800" dirty="0"/>
          </a:p>
          <a:p>
            <a:pPr marL="285750" indent="-285750"/>
            <a:r>
              <a:rPr lang="en-US" sz="2400" dirty="0"/>
              <a:t>What Was Happening at That Time?</a:t>
            </a:r>
            <a:endParaRPr lang="en-US" sz="2400" dirty="0">
              <a:ea typeface="+mn-lt"/>
              <a:cs typeface="+mn-lt"/>
            </a:endParaRPr>
          </a:p>
          <a:p>
            <a:pPr marL="685800" lvl="1">
              <a:buFont typeface="Courier New" charset="2"/>
              <a:buChar char="o"/>
            </a:pPr>
            <a:r>
              <a:rPr lang="en-US" sz="2000" dirty="0">
                <a:ea typeface="+mn-lt"/>
                <a:cs typeface="+mn-lt"/>
              </a:rPr>
              <a:t>In 2005, Taiwan experienced rapid growth in credit card usage, and rising consumer debt became a concern </a:t>
            </a:r>
          </a:p>
          <a:p>
            <a:pPr marL="1085850" lvl="2">
              <a:buFont typeface="Courier New" charset="2"/>
              <a:buChar char="o"/>
            </a:pPr>
            <a:r>
              <a:rPr lang="en-US" sz="1800" dirty="0">
                <a:ea typeface="+mn-lt"/>
                <a:cs typeface="+mn-lt"/>
              </a:rPr>
              <a:t>Borrowers faced high credit card balances </a:t>
            </a:r>
            <a:r>
              <a:rPr lang="en-US" sz="1800" dirty="0">
                <a:ea typeface="+mn-lt"/>
                <a:cs typeface="+mn-lt"/>
                <a:sym typeface="Wingdings" pitchFamily="2" charset="2"/>
              </a:rPr>
              <a:t> led to </a:t>
            </a:r>
            <a:r>
              <a:rPr lang="en-US" sz="1800" dirty="0">
                <a:ea typeface="+mn-lt"/>
                <a:cs typeface="+mn-lt"/>
              </a:rPr>
              <a:t>increase in defaults and a closer examination of lending practices (Yeh &amp; Lien, 2009)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58460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09C70-F9A8-D6F3-F3D6-BA0054179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109A2-E35B-7E5A-07EF-785788680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>
                <a:solidFill>
                  <a:schemeClr val="accent2"/>
                </a:solidFill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5C3CA-6DC3-A14D-6602-39DAD337D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2454"/>
            <a:ext cx="10515600" cy="54204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Prediction models for business credit decisions have proved to be impactful for the banking industry (Arora et al., 2022)</a:t>
            </a:r>
          </a:p>
          <a:p>
            <a:pPr lvl="1">
              <a:spcAft>
                <a:spcPts val="1800"/>
              </a:spcAft>
            </a:pPr>
            <a:r>
              <a:rPr lang="en-US" sz="2000">
                <a:ea typeface="+mn-lt"/>
                <a:cs typeface="+mn-lt"/>
              </a:rPr>
              <a:t>Crucial in identifying credit lending and credit risk assessment issues</a:t>
            </a:r>
          </a:p>
          <a:p>
            <a:r>
              <a:rPr lang="en-US" sz="2400">
                <a:ea typeface="+mn-lt"/>
                <a:cs typeface="+mn-lt"/>
              </a:rPr>
              <a:t>Hamdy &amp; Hussein (2016) state that credit risk assessment is crucial for credit lending decision-making</a:t>
            </a:r>
          </a:p>
          <a:p>
            <a:pPr lvl="1"/>
            <a:r>
              <a:rPr lang="en-US" sz="2000">
                <a:ea typeface="+mn-lt"/>
                <a:cs typeface="+mn-lt"/>
              </a:rPr>
              <a:t>Credit scoring models classify applicants into two groups: applicant with good credit, or applicant with bad credit</a:t>
            </a:r>
          </a:p>
          <a:p>
            <a:pPr lvl="2">
              <a:spcAft>
                <a:spcPts val="1800"/>
              </a:spcAft>
            </a:pPr>
            <a:r>
              <a:rPr lang="en-US" sz="2000">
                <a:ea typeface="+mn-lt"/>
                <a:cs typeface="+mn-lt"/>
              </a:rPr>
              <a:t>Models use application information and applicant information held by a credit reference agency to classify</a:t>
            </a:r>
            <a:endParaRPr lang="en-US" sz="240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Ince &amp; Aktan (2009) conclude that credit scoring systems aid in controlling bad debt losses</a:t>
            </a:r>
          </a:p>
          <a:p>
            <a:pPr lvl="1"/>
            <a:r>
              <a:rPr lang="en-US" sz="2000">
                <a:ea typeface="+mn-lt"/>
                <a:cs typeface="+mn-lt"/>
              </a:rPr>
              <a:t>Systems are used to model potential risks of credit card applicants</a:t>
            </a:r>
          </a:p>
          <a:p>
            <a:endParaRPr lang="en-US" sz="2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81061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7BB3F-8AD0-626F-2EAC-EC94D2326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4F92-1A2D-62FB-E149-A674BD886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accent2"/>
                </a:solidFill>
              </a:rPr>
              <a:t>Research Questions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8304D-7C4D-4285-E00F-AE08A1231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1486"/>
            <a:ext cx="10515600" cy="51754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/>
              <a:t>Main Research Question: </a:t>
            </a:r>
          </a:p>
          <a:p>
            <a:pPr marL="0" indent="0">
              <a:buNone/>
            </a:pPr>
            <a:r>
              <a:rPr lang="en-US" sz="3000" b="1"/>
              <a:t>What factors predict credit card default, and how influential are they?</a:t>
            </a:r>
          </a:p>
          <a:p>
            <a:r>
              <a:rPr lang="en-US" sz="3000"/>
              <a:t>Sub Research Questions:</a:t>
            </a:r>
          </a:p>
          <a:p>
            <a:pPr lvl="1">
              <a:buFont typeface="Courier New" charset="2"/>
              <a:buChar char="o"/>
            </a:pPr>
            <a:r>
              <a:rPr lang="en-US" sz="3000"/>
              <a:t>CCA: Is there a relationship between a customer's demographic/financial profile and repayment behavior?</a:t>
            </a:r>
          </a:p>
          <a:p>
            <a:pPr lvl="1">
              <a:buFont typeface="Courier New" charset="2"/>
              <a:buChar char="o"/>
            </a:pPr>
            <a:r>
              <a:rPr lang="en-US" sz="3000"/>
              <a:t>EFA: Are there underlying patterns in consumer demographics and repayment behaviors?</a:t>
            </a:r>
          </a:p>
        </p:txBody>
      </p:sp>
    </p:spTree>
    <p:extLst>
      <p:ext uri="{BB962C8B-B14F-4D97-AF65-F5344CB8AC3E}">
        <p14:creationId xmlns:p14="http://schemas.microsoft.com/office/powerpoint/2010/main" val="4128081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41CE4-F7B2-906E-2390-AB73D6DAE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3D6B1-3E89-122E-D605-EEFACEEB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accent2"/>
                </a:solidFill>
              </a:rPr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F0FA7-F87D-8FAD-F339-2C16262A0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396"/>
            <a:ext cx="10515600" cy="570411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2400">
                <a:ea typeface="+mn-lt"/>
                <a:cs typeface="+mn-lt"/>
              </a:rPr>
              <a:t>Stepwise binary logistic regression</a:t>
            </a:r>
          </a:p>
          <a:p>
            <a:pPr lvl="1"/>
            <a:r>
              <a:rPr lang="en-US" sz="2000">
                <a:ea typeface="+mn-lt"/>
                <a:cs typeface="+mn-lt"/>
              </a:rPr>
              <a:t>For data exploration </a:t>
            </a:r>
          </a:p>
          <a:p>
            <a:pPr lvl="1">
              <a:spcAft>
                <a:spcPts val="1200"/>
              </a:spcAft>
            </a:pPr>
            <a:r>
              <a:rPr lang="en-US" sz="2000">
                <a:ea typeface="+mn-lt"/>
                <a:cs typeface="+mn-lt"/>
              </a:rPr>
              <a:t>To build our predictive model for default payment. </a:t>
            </a:r>
          </a:p>
          <a:p>
            <a:r>
              <a:rPr lang="en-US" sz="2400">
                <a:ea typeface="+mn-lt"/>
                <a:cs typeface="+mn-lt"/>
              </a:rPr>
              <a:t>Logistic regression + Principal Component Analysis</a:t>
            </a:r>
          </a:p>
          <a:p>
            <a:pPr lvl="1">
              <a:spcAft>
                <a:spcPts val="1200"/>
              </a:spcAft>
            </a:pPr>
            <a:r>
              <a:rPr lang="en-US" sz="2000">
                <a:ea typeface="+mn-lt"/>
                <a:cs typeface="+mn-lt"/>
              </a:rPr>
              <a:t>To simplify model by grouping related variables into principal components</a:t>
            </a:r>
          </a:p>
          <a:p>
            <a:r>
              <a:rPr lang="en-US" sz="2400">
                <a:ea typeface="+mn-lt"/>
                <a:cs typeface="+mn-lt"/>
              </a:rPr>
              <a:t>Canonical Correlation Analysis (CCA)</a:t>
            </a:r>
          </a:p>
          <a:p>
            <a:pPr lvl="1"/>
            <a:r>
              <a:rPr lang="en-US" sz="2000">
                <a:ea typeface="+mn-lt"/>
                <a:cs typeface="+mn-lt"/>
              </a:rPr>
              <a:t>To examine the relationships between two conceptually meaningful groups of variables from our dataset: </a:t>
            </a:r>
          </a:p>
          <a:p>
            <a:pPr lvl="2"/>
            <a:r>
              <a:rPr lang="en-US" sz="1800">
                <a:ea typeface="+mn-lt"/>
                <a:cs typeface="+mn-lt"/>
              </a:rPr>
              <a:t>Client Profile/Credit Info</a:t>
            </a:r>
          </a:p>
          <a:p>
            <a:pPr lvl="2">
              <a:spcAft>
                <a:spcPts val="1200"/>
              </a:spcAft>
            </a:pPr>
            <a:r>
              <a:rPr lang="en-US" sz="1800">
                <a:ea typeface="+mn-lt"/>
                <a:cs typeface="+mn-lt"/>
              </a:rPr>
              <a:t>Payment Behavior</a:t>
            </a:r>
          </a:p>
          <a:p>
            <a:r>
              <a:rPr lang="en-US" sz="2400">
                <a:ea typeface="+mn-lt"/>
                <a:cs typeface="+mn-lt"/>
              </a:rPr>
              <a:t>PCA </a:t>
            </a:r>
          </a:p>
          <a:p>
            <a:pPr lvl="1">
              <a:spcAft>
                <a:spcPts val="1200"/>
              </a:spcAft>
            </a:pPr>
            <a:r>
              <a:rPr lang="en-US" sz="2000">
                <a:ea typeface="+mn-lt"/>
                <a:cs typeface="+mn-lt"/>
              </a:rPr>
              <a:t>To explore potential latent structures relevant to predicting client default behavior</a:t>
            </a:r>
          </a:p>
          <a:p>
            <a:r>
              <a:rPr lang="en-US" sz="2400">
                <a:ea typeface="+mn-lt"/>
                <a:cs typeface="+mn-lt"/>
              </a:rPr>
              <a:t>Exploratory Factor Analysis (EFA)</a:t>
            </a:r>
          </a:p>
          <a:p>
            <a:pPr lvl="1"/>
            <a:r>
              <a:rPr lang="en-US" sz="2000">
                <a:ea typeface="+mn-lt"/>
                <a:cs typeface="+mn-lt"/>
              </a:rPr>
              <a:t>To identify latent dimensions across nine standardized variables: payment history, age, education level, and marital status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41307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AB4C-9417-26A3-F792-ADD48ACCD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EC39-6E40-5708-1641-5A8EEBE7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accent2"/>
                </a:solidFill>
              </a:rPr>
              <a:t>Results – 1</a:t>
            </a:r>
            <a:r>
              <a:rPr lang="en-US" sz="4000" baseline="30000">
                <a:solidFill>
                  <a:schemeClr val="accent2"/>
                </a:solidFill>
              </a:rPr>
              <a:t>st</a:t>
            </a:r>
            <a:r>
              <a:rPr lang="en-US" sz="4000">
                <a:solidFill>
                  <a:schemeClr val="accent2"/>
                </a:solidFill>
              </a:rPr>
              <a:t> Stepwise Binary Logistic Regression </a:t>
            </a:r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337D595E-E77C-F995-CC28-08FEBE5C0D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16" y="1127613"/>
            <a:ext cx="4526527" cy="43891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08EA96-5D56-1537-83C7-02A05DE0C22E}"/>
              </a:ext>
            </a:extLst>
          </p:cNvPr>
          <p:cNvSpPr txBox="1"/>
          <p:nvPr/>
        </p:nvSpPr>
        <p:spPr>
          <a:xfrm>
            <a:off x="163286" y="5525872"/>
            <a:ext cx="59327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Key Takeaway:</a:t>
            </a:r>
            <a:r>
              <a:rPr lang="en-US"/>
              <a:t> The model is best utilized to flag high-risk clients but can predict the probability of default for low-risk clients as well. Model can differentiate between default and non-default clients.</a:t>
            </a:r>
            <a:endParaRPr 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7B585-CCD3-68D4-1242-65F19F581216}"/>
              </a:ext>
            </a:extLst>
          </p:cNvPr>
          <p:cNvSpPr txBox="1"/>
          <p:nvPr/>
        </p:nvSpPr>
        <p:spPr>
          <a:xfrm>
            <a:off x="6096000" y="5525872"/>
            <a:ext cx="59327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Key Takeaway:</a:t>
            </a:r>
            <a:r>
              <a:rPr lang="en-US"/>
              <a:t> The model predicts non-default clients relatively well, in comparison to default clients. This may pose risks for lenders, as the model has difficulty in accurately predicting default clients.</a:t>
            </a:r>
            <a:endParaRPr 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78F827-D226-4ED9-D5AB-39D372233736}"/>
              </a:ext>
            </a:extLst>
          </p:cNvPr>
          <p:cNvSpPr txBox="1"/>
          <p:nvPr/>
        </p:nvSpPr>
        <p:spPr>
          <a:xfrm>
            <a:off x="163286" y="1001486"/>
            <a:ext cx="940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/>
              <a:t>Probability</a:t>
            </a:r>
            <a:r>
              <a:rPr lang="en-US" sz="1600"/>
              <a:t> </a:t>
            </a:r>
            <a:r>
              <a:rPr lang="en-US" sz="1200"/>
              <a:t>Histogram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4CC9D9-5C71-D60C-8FC0-421BEFAEC644}"/>
              </a:ext>
            </a:extLst>
          </p:cNvPr>
          <p:cNvSpPr txBox="1"/>
          <p:nvPr/>
        </p:nvSpPr>
        <p:spPr>
          <a:xfrm>
            <a:off x="5792471" y="1043075"/>
            <a:ext cx="1169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/>
              <a:t>Confusion Matrix Heat Map</a:t>
            </a:r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2A89E3-ABAB-1C24-40EA-34A68E6E4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187" y="1127613"/>
            <a:ext cx="4908264" cy="43891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57119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F527C-4D0C-A8B8-08BF-83514DA0B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6A50B-E36D-922F-DD54-E5FFD4187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accent2"/>
                </a:solidFill>
              </a:rPr>
              <a:t>Results – 2</a:t>
            </a:r>
            <a:r>
              <a:rPr lang="en-US" sz="4000" baseline="30000">
                <a:solidFill>
                  <a:schemeClr val="accent2"/>
                </a:solidFill>
              </a:rPr>
              <a:t>nd</a:t>
            </a:r>
            <a:r>
              <a:rPr lang="en-US" sz="4000">
                <a:solidFill>
                  <a:schemeClr val="accent2"/>
                </a:solidFill>
              </a:rPr>
              <a:t> Logistic Regression + PCA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FE6F4D-AC48-368F-6BD8-C5F954684DD5}"/>
              </a:ext>
            </a:extLst>
          </p:cNvPr>
          <p:cNvSpPr txBox="1"/>
          <p:nvPr/>
        </p:nvSpPr>
        <p:spPr>
          <a:xfrm>
            <a:off x="707127" y="5368320"/>
            <a:ext cx="468414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Key Takeaway:</a:t>
            </a:r>
            <a:r>
              <a:rPr lang="en-US"/>
              <a:t> The model achieves a </a:t>
            </a:r>
            <a:r>
              <a:rPr lang="en-US" b="1"/>
              <a:t>balanced accuracy of </a:t>
            </a:r>
            <a:r>
              <a:rPr lang="en-US" b="1">
                <a:ea typeface="+mn-lt"/>
                <a:cs typeface="+mn-lt"/>
              </a:rPr>
              <a:t>≈</a:t>
            </a:r>
            <a:r>
              <a:rPr lang="en-US" b="1"/>
              <a:t> 76%</a:t>
            </a:r>
            <a:r>
              <a:rPr lang="en-US"/>
              <a:t> and </a:t>
            </a:r>
            <a:r>
              <a:rPr lang="en-US" b="1"/>
              <a:t>AUC of 0.73</a:t>
            </a:r>
            <a:r>
              <a:rPr lang="en-US"/>
              <a:t>, indicating reasonable performance for predicting defaults.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DFD27-99E9-2BA7-1D88-786598564B52}"/>
              </a:ext>
            </a:extLst>
          </p:cNvPr>
          <p:cNvSpPr txBox="1"/>
          <p:nvPr/>
        </p:nvSpPr>
        <p:spPr>
          <a:xfrm>
            <a:off x="5589006" y="1163158"/>
            <a:ext cx="6602587" cy="64633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ANY_DELAY: Whether a client ever delayed payment on any billing cycle</a:t>
            </a:r>
          </a:p>
          <a:p>
            <a:endParaRPr lang="en-US"/>
          </a:p>
          <a:p>
            <a:r>
              <a:rPr lang="en-US"/>
              <a:t>BILL_PC1: Overall billing pattern over time</a:t>
            </a:r>
          </a:p>
          <a:p>
            <a:endParaRPr lang="en-US"/>
          </a:p>
          <a:p>
            <a:r>
              <a:rPr lang="en-US"/>
              <a:t>DEMO_PC1: Combines age, education, marital status, and gender</a:t>
            </a:r>
          </a:p>
          <a:p>
            <a:endParaRPr lang="en-US"/>
          </a:p>
          <a:p>
            <a:r>
              <a:rPr lang="en-US"/>
              <a:t>LIMIT_BAL: The total credit limit available to the client</a:t>
            </a:r>
          </a:p>
          <a:p>
            <a:endParaRPr lang="en-US"/>
          </a:p>
          <a:p>
            <a:r>
              <a:rPr lang="en-US"/>
              <a:t>PAY_PC1: Overall payment behavior over time</a:t>
            </a:r>
          </a:p>
          <a:p>
            <a:endParaRPr lang="en-US"/>
          </a:p>
          <a:p>
            <a:r>
              <a:rPr lang="en-US"/>
              <a:t>Sensitivity: </a:t>
            </a:r>
            <a:r>
              <a:rPr lang="en-US" b="1"/>
              <a:t>83.78% correctly predicted on non-defaulters</a:t>
            </a:r>
          </a:p>
          <a:p>
            <a:r>
              <a:rPr lang="en-US"/>
              <a:t>Specificity: </a:t>
            </a:r>
            <a:r>
              <a:rPr lang="en-US" b="1"/>
              <a:t>51.39% correctly predicted on defaulters</a:t>
            </a:r>
          </a:p>
          <a:p>
            <a:endParaRPr lang="en-US"/>
          </a:p>
          <a:p>
            <a:r>
              <a:rPr lang="en-US" b="1"/>
              <a:t>All variables are significant</a:t>
            </a:r>
            <a:r>
              <a:rPr lang="en-US"/>
              <a:t>, with ANY_DELAY being the strongest predictor! PAY_PC1 shows the largest negative impact, where better payment behavior over time reduces the likelihood of default. </a:t>
            </a:r>
            <a:r>
              <a:rPr lang="en-US" b="1"/>
              <a:t>Outliers are present, but there are no signs of </a:t>
            </a:r>
            <a:r>
              <a:rPr lang="en-US" b="1">
                <a:ea typeface="+mn-lt"/>
                <a:cs typeface="+mn-lt"/>
              </a:rPr>
              <a:t>multicollinearity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8" name="Content Placeholder 7" descr="A green and red bar graph&#10;&#10;AI-generated content may be incorrect.">
            <a:extLst>
              <a:ext uri="{FF2B5EF4-FFF2-40B4-BE49-F238E27FC236}">
                <a16:creationId xmlns:a16="http://schemas.microsoft.com/office/drawing/2014/main" id="{2A8C03A8-19FF-2EF4-23A3-8AB47A1E9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835" y="1363311"/>
            <a:ext cx="5269887" cy="3662051"/>
          </a:xfrm>
        </p:spPr>
      </p:pic>
    </p:spTree>
    <p:extLst>
      <p:ext uri="{BB962C8B-B14F-4D97-AF65-F5344CB8AC3E}">
        <p14:creationId xmlns:p14="http://schemas.microsoft.com/office/powerpoint/2010/main" val="3684766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0464C-9619-B1D5-2614-24CB78959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/>
              <a:t>Results – Relationship Insights</a:t>
            </a:r>
          </a:p>
        </p:txBody>
      </p:sp>
      <p:sp>
        <p:nvSpPr>
          <p:cNvPr id="14" name="Isosceles Triangle 8">
            <a:extLst>
              <a:ext uri="{FF2B5EF4-FFF2-40B4-BE49-F238E27FC236}">
                <a16:creationId xmlns:a16="http://schemas.microsoft.com/office/drawing/2014/main" id="{06A51FAE-5E00-4216-9881-05169938D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D81100D6-C22D-000C-861B-2E852461A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879" y="5794200"/>
            <a:ext cx="9636787" cy="8821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Having a graduate school education reduces the likelihood of default.</a:t>
            </a:r>
          </a:p>
          <a:p>
            <a:r>
              <a:rPr lang="en-US">
                <a:ea typeface="+mn-lt"/>
                <a:cs typeface="+mn-lt"/>
              </a:rPr>
              <a:t>As one ages, the risk of default increases.</a:t>
            </a:r>
          </a:p>
        </p:txBody>
      </p:sp>
      <p:pic>
        <p:nvPicPr>
          <p:cNvPr id="8" name="Picture 7" descr="Picture 6360075, Picture">
            <a:extLst>
              <a:ext uri="{FF2B5EF4-FFF2-40B4-BE49-F238E27FC236}">
                <a16:creationId xmlns:a16="http://schemas.microsoft.com/office/drawing/2014/main" id="{B2DB7791-428B-C3D0-390E-CE7BEC17E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533" y="2099030"/>
            <a:ext cx="5427484" cy="3492498"/>
          </a:xfrm>
          <a:prstGeom prst="rect">
            <a:avLst/>
          </a:prstGeom>
        </p:spPr>
      </p:pic>
      <p:pic>
        <p:nvPicPr>
          <p:cNvPr id="23" name="Picture 22" descr="Picture 1559268138, Picture">
            <a:extLst>
              <a:ext uri="{FF2B5EF4-FFF2-40B4-BE49-F238E27FC236}">
                <a16:creationId xmlns:a16="http://schemas.microsoft.com/office/drawing/2014/main" id="{880172C2-3861-F65A-1C70-EAF005E51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89" y="2091973"/>
            <a:ext cx="5554485" cy="349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32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969D3-FE36-EFCF-8C66-D30F5F54F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– Relationship Insights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C82C3-EA3C-2554-9B38-77D5D4857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148" y="5438592"/>
            <a:ext cx="7006076" cy="11361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Females are less likely to default.</a:t>
            </a:r>
          </a:p>
          <a:p>
            <a:r>
              <a:rPr lang="en-US"/>
              <a:t>A higher credit limit decreases the chance of default.</a:t>
            </a:r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0E74C713-289A-B881-A8D2-9442882AC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384" y="1759466"/>
            <a:ext cx="5550408" cy="3550566"/>
          </a:xfrm>
          <a:prstGeom prst="rect">
            <a:avLst/>
          </a:prstGeom>
        </p:spPr>
      </p:pic>
      <p:pic>
        <p:nvPicPr>
          <p:cNvPr id="9" name="Picture 8" descr="Picture 154032042, Picture">
            <a:extLst>
              <a:ext uri="{FF2B5EF4-FFF2-40B4-BE49-F238E27FC236}">
                <a16:creationId xmlns:a16="http://schemas.microsoft.com/office/drawing/2014/main" id="{7A7C2F35-CEBE-04D0-9B7C-FECE17FE3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18" y="1819261"/>
            <a:ext cx="5486400" cy="32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73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9B35C-D2C4-D5FF-E66A-B46A56C4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4B8BF-654A-60AC-C110-C88074AD0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– Relationship Insights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FC863-F9EF-9F7F-6FDE-B8E45C259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5831" y="5920939"/>
            <a:ext cx="5836287" cy="654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Being single lowers the likelihood of default.</a:t>
            </a:r>
          </a:p>
        </p:txBody>
      </p:sp>
      <p:pic>
        <p:nvPicPr>
          <p:cNvPr id="7" name="Picture 6" descr="A graph of a person and person&#10;&#10;AI-generated content may be incorrect.">
            <a:extLst>
              <a:ext uri="{FF2B5EF4-FFF2-40B4-BE49-F238E27FC236}">
                <a16:creationId xmlns:a16="http://schemas.microsoft.com/office/drawing/2014/main" id="{62F2CF11-F841-1B45-AC3D-E0FD08319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987" y="1419826"/>
            <a:ext cx="6559589" cy="411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03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6BD84-A895-9F8F-3296-68C8D7D81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8548"/>
          </a:xfrm>
        </p:spPr>
        <p:txBody>
          <a:bodyPr/>
          <a:lstStyle/>
          <a:p>
            <a:r>
              <a:rPr lang="en-US"/>
              <a:t>Results 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5EEB1-0DE2-47CA-497E-B0EDC3E62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612" y="5584844"/>
            <a:ext cx="4022271" cy="9150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chemeClr val="dk1"/>
                </a:solidFill>
                <a:latin typeface="Trebuchet MS"/>
              </a:rPr>
              <a:t>PC1 captures 28.19% information</a:t>
            </a:r>
            <a:endParaRPr lang="en-US">
              <a:solidFill>
                <a:schemeClr val="dk1"/>
              </a:solidFill>
            </a:endParaRPr>
          </a:p>
          <a:p>
            <a:pPr marL="0" indent="0" algn="ctr">
              <a:buNone/>
            </a:pPr>
            <a:r>
              <a:rPr lang="en-US" sz="1600">
                <a:solidFill>
                  <a:schemeClr val="dk1"/>
                </a:solidFill>
                <a:latin typeface="Trebuchet MS"/>
              </a:rPr>
              <a:t>PC2 captures 13.57% information</a:t>
            </a:r>
          </a:p>
        </p:txBody>
      </p:sp>
      <p:pic>
        <p:nvPicPr>
          <p:cNvPr id="4" name="Picture 3" descr="Picture 1497708679, Picture">
            <a:extLst>
              <a:ext uri="{FF2B5EF4-FFF2-40B4-BE49-F238E27FC236}">
                <a16:creationId xmlns:a16="http://schemas.microsoft.com/office/drawing/2014/main" id="{4C35005B-6093-562A-1AD9-B9722A428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35" y="1565158"/>
            <a:ext cx="5064880" cy="4004503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B0E08FC-F440-2974-FF94-2727A3F58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824787"/>
              </p:ext>
            </p:extLst>
          </p:nvPr>
        </p:nvGraphicFramePr>
        <p:xfrm>
          <a:off x="6096000" y="2105093"/>
          <a:ext cx="4010088" cy="3337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044">
                  <a:extLst>
                    <a:ext uri="{9D8B030D-6E8A-4147-A177-3AD203B41FA5}">
                      <a16:colId xmlns:a16="http://schemas.microsoft.com/office/drawing/2014/main" val="1804245805"/>
                    </a:ext>
                  </a:extLst>
                </a:gridCol>
                <a:gridCol w="2005044">
                  <a:extLst>
                    <a:ext uri="{9D8B030D-6E8A-4147-A177-3AD203B41FA5}">
                      <a16:colId xmlns:a16="http://schemas.microsoft.com/office/drawing/2014/main" val="129164005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en-US"/>
                        <a:t>Eigenvalues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006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rebuchet MS"/>
                        </a:rPr>
                        <a:t>2.26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18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rebuchet MS"/>
                        </a:rPr>
                        <a:t>1.09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53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rebuchet MS"/>
                        </a:rPr>
                        <a:t>0.98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089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rebuchet MS"/>
                        </a:rPr>
                        <a:t>0.84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498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rebuchet MS"/>
                        </a:rPr>
                        <a:t>0.78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772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rebuchet MS"/>
                        </a:rPr>
                        <a:t>0.73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445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PC7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rebuchet MS"/>
                        </a:rPr>
                        <a:t>0.68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2531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PC8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rebuchet MS"/>
                        </a:rPr>
                        <a:t>0.66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94634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AE9ABE2-7056-46E1-33E6-54D93DBACE18}"/>
              </a:ext>
            </a:extLst>
          </p:cNvPr>
          <p:cNvSpPr txBox="1"/>
          <p:nvPr/>
        </p:nvSpPr>
        <p:spPr>
          <a:xfrm>
            <a:off x="549350" y="5744487"/>
            <a:ext cx="493924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The scree plot indicates -&gt; retention of two principal components 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106331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4F6B6-D568-6267-227E-29965100D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C3EA0-05B1-153A-6E2D-9422A64E0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accent2"/>
                </a:solidFill>
              </a:rPr>
              <a:t>Results - 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6ACE3-5A5B-5DA6-18B1-319381188F38}"/>
              </a:ext>
            </a:extLst>
          </p:cNvPr>
          <p:cNvSpPr txBox="1"/>
          <p:nvPr/>
        </p:nvSpPr>
        <p:spPr>
          <a:xfrm>
            <a:off x="8041944" y="2476845"/>
            <a:ext cx="374878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Key Takeaways: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Components </a:t>
            </a:r>
            <a:r>
              <a:rPr lang="en-US" b="1">
                <a:ea typeface="+mn-lt"/>
                <a:cs typeface="+mn-lt"/>
              </a:rPr>
              <a:t>identify general behavioral and demographic </a:t>
            </a:r>
            <a:r>
              <a:rPr lang="en-US" b="1"/>
              <a:t>patterns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Repayment Behavior -&gt; the strongest influence on default.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Components explain ~42% variance</a:t>
            </a: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0D635EE0-1E63-06F4-E482-DCD53A1B5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63" y="1210072"/>
            <a:ext cx="7323465" cy="53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639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7A27A-D493-BD98-2011-A7D99AB2F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95355-CD95-32E8-F97E-1F5053E46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Results - CCA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640D50-1865-3D77-860D-B16DE9B49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8820"/>
            <a:ext cx="10648206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We used CCA to explore links between client background (age, sex, education, marital status, credit limit) and repayment behavior.</a:t>
            </a:r>
          </a:p>
          <a:p>
            <a:r>
              <a:rPr lang="en-US" sz="2000"/>
              <a:t>A weak but statistically significant relationship was found (first canonical correlation ≈ 0.24).</a:t>
            </a:r>
          </a:p>
          <a:p>
            <a:r>
              <a:rPr lang="en-US" sz="2000"/>
              <a:t>Credit limit had the strongest positive influence, associated with better repayment behavior.</a:t>
            </a:r>
          </a:p>
          <a:p>
            <a:r>
              <a:rPr lang="en-US" sz="2000"/>
              <a:t>Late payments were negatively associated, reinforcing their role in default risk.</a:t>
            </a:r>
          </a:p>
          <a:p>
            <a:r>
              <a:rPr lang="en-US" sz="2000"/>
              <a:t>Demographic variables (age, education, marital status) played a smaller role.</a:t>
            </a:r>
          </a:p>
          <a:p>
            <a:r>
              <a:rPr lang="en-US" sz="2000"/>
              <a:t>Results suggest that repayment behavior is better explained by financial variables </a:t>
            </a:r>
            <a:r>
              <a:rPr lang="en-US" sz="2000" i="1"/>
              <a:t>and </a:t>
            </a:r>
            <a:r>
              <a:rPr lang="en-US" sz="2000"/>
              <a:t>richer behavioral variables, than just by demographics </a:t>
            </a:r>
            <a:r>
              <a:rPr lang="en-US" sz="2000" i="1"/>
              <a:t>alone</a:t>
            </a:r>
            <a:r>
              <a:rPr lang="en-US" sz="2000"/>
              <a:t>.</a:t>
            </a:r>
          </a:p>
        </p:txBody>
      </p:sp>
      <p:pic>
        <p:nvPicPr>
          <p:cNvPr id="7" name="Picture 6" descr="Picture 70608975, Picture">
            <a:extLst>
              <a:ext uri="{FF2B5EF4-FFF2-40B4-BE49-F238E27FC236}">
                <a16:creationId xmlns:a16="http://schemas.microsoft.com/office/drawing/2014/main" id="{13A0EF23-01BF-4340-11F7-8D0A864BA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43" y="5266572"/>
            <a:ext cx="5235574" cy="13989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5D25C5-DE14-F840-BA11-0B9D3FEA7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41" y="5966680"/>
            <a:ext cx="5111750" cy="20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78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32CC-F28A-2C6E-25E4-4CA0C65AA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Results - CCA - Heatmap</a:t>
            </a:r>
          </a:p>
        </p:txBody>
      </p:sp>
      <p:pic>
        <p:nvPicPr>
          <p:cNvPr id="4" name="Content Placeholder 3" descr="Picture 347412459, Picture">
            <a:extLst>
              <a:ext uri="{FF2B5EF4-FFF2-40B4-BE49-F238E27FC236}">
                <a16:creationId xmlns:a16="http://schemas.microsoft.com/office/drawing/2014/main" id="{EA6AC874-AC52-E50B-A9C4-0207CE0404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7" y="1623281"/>
            <a:ext cx="8535213" cy="5238696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00220D-F6A9-7CCD-0D2B-AE0F4AE11DB9}"/>
              </a:ext>
            </a:extLst>
          </p:cNvPr>
          <p:cNvSpPr txBox="1"/>
          <p:nvPr/>
        </p:nvSpPr>
        <p:spPr>
          <a:xfrm>
            <a:off x="8538307" y="2535560"/>
            <a:ext cx="365458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/>
              <a:t>The heatmap shows a clear contrast: clients with higher credit limits and timely payments load positively, while those with frequent delays and lower limits load negatively on the first canonical dimension.</a:t>
            </a:r>
          </a:p>
        </p:txBody>
      </p:sp>
    </p:spTree>
    <p:extLst>
      <p:ext uri="{BB962C8B-B14F-4D97-AF65-F5344CB8AC3E}">
        <p14:creationId xmlns:p14="http://schemas.microsoft.com/office/powerpoint/2010/main" val="4258916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D5D5F-16F7-5472-87AB-677010898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5CAB-43B3-8BD1-15FD-E51E97C83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accent2"/>
                </a:solidFill>
              </a:rPr>
              <a:t>Results - EFA</a:t>
            </a:r>
          </a:p>
        </p:txBody>
      </p:sp>
      <p:pic>
        <p:nvPicPr>
          <p:cNvPr id="4" name="Content Placeholder 3" descr="Picture 477327019, Picture">
            <a:extLst>
              <a:ext uri="{FF2B5EF4-FFF2-40B4-BE49-F238E27FC236}">
                <a16:creationId xmlns:a16="http://schemas.microsoft.com/office/drawing/2014/main" id="{324B7DFA-E91C-6023-CAA7-6B2CF954F3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1718" y="1247494"/>
            <a:ext cx="5550698" cy="500740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F77843-A504-434D-9F47-3BD84F862623}"/>
              </a:ext>
            </a:extLst>
          </p:cNvPr>
          <p:cNvSpPr txBox="1"/>
          <p:nvPr/>
        </p:nvSpPr>
        <p:spPr>
          <a:xfrm>
            <a:off x="6642416" y="2082517"/>
            <a:ext cx="5171237" cy="35804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800"/>
              </a:spcAft>
            </a:pPr>
            <a:r>
              <a:rPr lang="en-US" sz="2000">
                <a:solidFill>
                  <a:srgbClr val="0E0E0E"/>
                </a:solidFill>
                <a:ea typeface="+mn-lt"/>
                <a:cs typeface="+mn-lt"/>
              </a:rPr>
              <a:t>This scree plot illustrates the eigenvalues from our EFA. </a:t>
            </a:r>
          </a:p>
          <a:p>
            <a:pPr marL="342900" indent="-342900">
              <a:spcBef>
                <a:spcPts val="1000"/>
              </a:spcBef>
              <a:spcAft>
                <a:spcPts val="180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>
                <a:solidFill>
                  <a:srgbClr val="0E0E0E"/>
                </a:solidFill>
              </a:rPr>
              <a:t>Each point represents the amount of variance explained by a given factor. 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>
                <a:solidFill>
                  <a:srgbClr val="0E0E0E"/>
                </a:solidFill>
              </a:rPr>
              <a:t>The elbow of the plot appears after the fourth factor suggesting that only the first four factors explain substantial variance.</a:t>
            </a:r>
          </a:p>
          <a:p>
            <a:pPr algn="l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14461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6A22-EF80-6B86-3596-2618FAD23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Results - EFA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F388C-1DD4-4FDC-364E-6E72AAF67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93307"/>
            <a:ext cx="5177965" cy="388077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>
                <a:solidFill>
                  <a:srgbClr val="0E0E0E"/>
                </a:solidFill>
              </a:rPr>
              <a:t>This heat map illustrates the loadings from our EFA </a:t>
            </a:r>
            <a:r>
              <a:rPr lang="en-US">
                <a:solidFill>
                  <a:srgbClr val="0E0E0E"/>
                </a:solidFill>
                <a:sym typeface="Wingdings" pitchFamily="2" charset="2"/>
              </a:rPr>
              <a:t> </a:t>
            </a:r>
            <a:r>
              <a:rPr lang="en-US">
                <a:solidFill>
                  <a:srgbClr val="0E0E0E"/>
                </a:solidFill>
              </a:rPr>
              <a:t>identify how strongly each original variable correlates with each of the four extracted factors. </a:t>
            </a:r>
          </a:p>
          <a:p>
            <a:r>
              <a:rPr lang="en-US">
                <a:solidFill>
                  <a:srgbClr val="0E0E0E"/>
                </a:solidFill>
              </a:rPr>
              <a:t>The top left corner highlights strong positive loadings for PAY_4 to PAY_6 on Factor 1, Short-Term Delinquency. </a:t>
            </a:r>
          </a:p>
          <a:p>
            <a:r>
              <a:rPr lang="en-US">
                <a:solidFill>
                  <a:srgbClr val="0E0E0E"/>
                </a:solidFill>
              </a:rPr>
              <a:t>PAY_0 through PAY_3 show strong associations with Factor 2, Early-Stage Repayment.</a:t>
            </a:r>
          </a:p>
          <a:p>
            <a:r>
              <a:rPr lang="en-US">
                <a:solidFill>
                  <a:srgbClr val="0E0E0E"/>
                </a:solidFill>
              </a:rPr>
              <a:t> AGE and MARRIAGE load on Factor 3, demographic structure. </a:t>
            </a:r>
          </a:p>
          <a:p>
            <a:r>
              <a:rPr lang="en-US">
                <a:solidFill>
                  <a:srgbClr val="0E0E0E"/>
                </a:solidFill>
              </a:rPr>
              <a:t>These patterns confirm that our variables cluster into meaningful themes.</a:t>
            </a:r>
            <a:endParaRPr lang="en-US">
              <a:solidFill>
                <a:srgbClr val="000000"/>
              </a:solidFill>
            </a:endParaRPr>
          </a:p>
          <a:p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E00FD5-A64A-3DD1-5649-D264BB230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70" y="1523999"/>
            <a:ext cx="4607049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16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0FBEF-C5B1-92E2-907D-2B0DB51AC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A2A00-DE0F-EAD1-B78E-B431C1D22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accent2"/>
                </a:solidFill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F623-D7AB-1D6D-3EF7-5FAB41347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5382"/>
            <a:ext cx="10515600" cy="4911581"/>
          </a:xfrm>
        </p:spPr>
        <p:txBody>
          <a:bodyPr>
            <a:normAutofit lnSpcReduction="10000"/>
          </a:bodyPr>
          <a:lstStyle/>
          <a:p>
            <a:pPr indent="-285750"/>
            <a:r>
              <a:rPr lang="en-US" sz="2800"/>
              <a:t>Dataset included multiple variables with undefined levels </a:t>
            </a:r>
            <a:r>
              <a:rPr lang="en-US" sz="2800">
                <a:sym typeface="Wingdings" pitchFamily="2" charset="2"/>
              </a:rPr>
              <a:t> decreased our sample size and excluded variables from analysis</a:t>
            </a:r>
          </a:p>
          <a:p>
            <a:pPr lvl="1"/>
            <a:r>
              <a:rPr lang="en-US" sz="2400">
                <a:sym typeface="Wingdings" pitchFamily="2" charset="2"/>
              </a:rPr>
              <a:t>Affected model predictive performance for target variable</a:t>
            </a:r>
          </a:p>
          <a:p>
            <a:pPr lvl="1">
              <a:spcAft>
                <a:spcPts val="1800"/>
              </a:spcAft>
            </a:pPr>
            <a:r>
              <a:rPr lang="en-US" sz="2400">
                <a:sym typeface="Wingdings" pitchFamily="2" charset="2"/>
              </a:rPr>
              <a:t>Posed risk regarding accurate prediction of default versus non-default cases</a:t>
            </a:r>
          </a:p>
          <a:p>
            <a:r>
              <a:rPr lang="en-US" sz="2800"/>
              <a:t>Certain techniques assume linearity and multivariate normality </a:t>
            </a:r>
            <a:r>
              <a:rPr lang="en-US" sz="2800">
                <a:sym typeface="Wingdings" pitchFamily="2" charset="2"/>
              </a:rPr>
              <a:t> did not hold perfectly in our data.</a:t>
            </a:r>
          </a:p>
          <a:p>
            <a:pPr lvl="1"/>
            <a:r>
              <a:rPr lang="en-US" sz="2400">
                <a:sym typeface="Wingdings" pitchFamily="2" charset="2"/>
              </a:rPr>
              <a:t>Simplified and hid relationships and interactions in our data</a:t>
            </a:r>
          </a:p>
          <a:p>
            <a:pPr lvl="1"/>
            <a:r>
              <a:rPr lang="en-US" sz="2400">
                <a:sym typeface="Wingdings" pitchFamily="2" charset="2"/>
              </a:rPr>
              <a:t>Limited capability to fully capture aspects relevant for accurate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190029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F805B-DDA6-305E-D1BB-434ADE6AD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95415-EE2D-0E56-BD7B-BDC136FE9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accent2"/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12DCD-AF99-5F37-E670-C7B982316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971"/>
            <a:ext cx="10112829" cy="49359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85750">
              <a:spcAft>
                <a:spcPts val="1800"/>
              </a:spcAft>
            </a:pPr>
            <a:r>
              <a:rPr lang="en-US" sz="2400"/>
              <a:t>Treat variables with undefined levels differently </a:t>
            </a:r>
            <a:r>
              <a:rPr lang="en-US" sz="2400">
                <a:sym typeface="Wingdings" pitchFamily="2" charset="2"/>
              </a:rPr>
              <a:t> may </a:t>
            </a:r>
            <a:r>
              <a:rPr lang="en-US" sz="2400"/>
              <a:t>result in more accurate predictive models</a:t>
            </a:r>
          </a:p>
          <a:p>
            <a:pPr indent="-285750">
              <a:spcAft>
                <a:spcPts val="1800"/>
              </a:spcAft>
            </a:pPr>
            <a:r>
              <a:rPr lang="en-US" sz="2400"/>
              <a:t>Additional analysis techniques to analyze client demographics and credit behavior </a:t>
            </a:r>
            <a:r>
              <a:rPr lang="en-US" sz="2400">
                <a:sym typeface="Wingdings" pitchFamily="2" charset="2"/>
              </a:rPr>
              <a:t> </a:t>
            </a:r>
            <a:r>
              <a:rPr lang="en-US" sz="2400"/>
              <a:t>uncover more relationships and patterns</a:t>
            </a:r>
          </a:p>
          <a:p>
            <a:pPr indent="-285750"/>
            <a:r>
              <a:rPr lang="en-US" sz="2400"/>
              <a:t>Exploring time-based features and behavioral variables</a:t>
            </a:r>
          </a:p>
          <a:p>
            <a:pPr lvl="1"/>
            <a:r>
              <a:rPr lang="en-US" sz="2000"/>
              <a:t>Ex: total bill amount to repayment-to-bill ratio </a:t>
            </a:r>
          </a:p>
          <a:p>
            <a:pPr lvl="1">
              <a:spcAft>
                <a:spcPts val="1800"/>
              </a:spcAft>
            </a:pPr>
            <a:r>
              <a:rPr lang="en-US" sz="2000"/>
              <a:t>Can refine variable relationship analysis for credit card data</a:t>
            </a:r>
          </a:p>
          <a:p>
            <a:pPr indent="-285750"/>
            <a:r>
              <a:rPr lang="en-US" sz="2400"/>
              <a:t>Utilize decision trees or random forests </a:t>
            </a:r>
            <a:r>
              <a:rPr lang="en-US" sz="2400">
                <a:sym typeface="Wingdings" pitchFamily="2" charset="2"/>
              </a:rPr>
              <a:t> may </a:t>
            </a:r>
            <a:r>
              <a:rPr lang="en-US" sz="2400"/>
              <a:t>better capture additional patterns credit card data</a:t>
            </a:r>
          </a:p>
        </p:txBody>
      </p:sp>
    </p:spTree>
    <p:extLst>
      <p:ext uri="{BB962C8B-B14F-4D97-AF65-F5344CB8AC3E}">
        <p14:creationId xmlns:p14="http://schemas.microsoft.com/office/powerpoint/2010/main" val="3031289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50FA2-1697-3D1A-E139-4CD97648B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407F-979E-A0FF-2D26-B29E2C59A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accent2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27C92-AA8A-832A-F069-B64699505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1486"/>
            <a:ext cx="10515600" cy="517547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/>
              <a:t>1. Demographic and behavioral factors can predict default risk, but to a limited degree.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/>
              <a:t>While behavioral factors like age or education help describe clients, they are not strong predictors of default without keeping financial behavior in mind.</a:t>
            </a:r>
          </a:p>
          <a:p>
            <a:r>
              <a:rPr lang="en-US" sz="2400"/>
              <a:t>2. Different techniques provide complementary insights.</a:t>
            </a:r>
          </a:p>
          <a:p>
            <a:pPr marL="0" indent="0">
              <a:buNone/>
            </a:pPr>
            <a:r>
              <a:rPr lang="en-US" sz="2400"/>
              <a:t>We explored the data from multiple angles, uncovering both broad behavior patterns and meaningful client groupings. Together, these perspectives helped reveal how lifestyle habits and financial behavior relate to default risk.</a:t>
            </a:r>
          </a:p>
          <a:p>
            <a:r>
              <a:rPr lang="en-US" sz="2400"/>
              <a:t>3. Broader and deeper data is needed for better prediction.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/>
              <a:t>Better prediction requires broader information, such as spending behavior, income, past balance, bill amount, and other financial habits, to capture the full picture of client risk.</a:t>
            </a:r>
          </a:p>
        </p:txBody>
      </p:sp>
    </p:spTree>
    <p:extLst>
      <p:ext uri="{BB962C8B-B14F-4D97-AF65-F5344CB8AC3E}">
        <p14:creationId xmlns:p14="http://schemas.microsoft.com/office/powerpoint/2010/main" val="28432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C2429-000F-8A8C-EB84-537621C52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4F11E-44A6-4CD0-2D20-D641E95F68F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2046" y="365125"/>
            <a:ext cx="10515600" cy="636588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accent2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71A92-A536-B00D-D174-632D6132CBD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4201" y="1015874"/>
            <a:ext cx="12023598" cy="563683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ea typeface="+mn-lt"/>
                <a:cs typeface="+mn-lt"/>
              </a:rPr>
              <a:t>Arora, S., Bindra, S., Singh, S., &amp; Kumar Nassa, V. (2022). Prediction of credit card defaults through data   analysis and Machine Learning Techniques. </a:t>
            </a:r>
            <a:r>
              <a:rPr lang="en-US" i="1">
                <a:ea typeface="+mn-lt"/>
                <a:cs typeface="+mn-lt"/>
              </a:rPr>
              <a:t>Materials Today: Proceedings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i="1">
                <a:ea typeface="+mn-lt"/>
                <a:cs typeface="+mn-lt"/>
              </a:rPr>
              <a:t>51</a:t>
            </a:r>
            <a:r>
              <a:rPr lang="en-US">
                <a:ea typeface="+mn-lt"/>
                <a:cs typeface="+mn-lt"/>
              </a:rPr>
              <a:t>, 110–117. </a:t>
            </a:r>
            <a:r>
              <a:rPr lang="en-US">
                <a:ea typeface="+mn-lt"/>
                <a:cs typeface="+mn-lt"/>
                <a:hlinkClick r:id="rId2"/>
              </a:rPr>
              <a:t>https://doi.org/10.1016/j.matpr.2021.04.588</a:t>
            </a:r>
            <a:r>
              <a:rPr lang="en-US">
                <a:ea typeface="+mn-lt"/>
                <a:cs typeface="+mn-lt"/>
              </a:rPr>
              <a:t> </a:t>
            </a:r>
            <a:endParaRPr lang="en-US">
              <a:latin typeface="Trebuchet MS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lang="en-US" sz="1900">
                <a:ea typeface="+mn-lt"/>
                <a:cs typeface="+mn-lt"/>
              </a:rPr>
              <a:t>Chang, C. (2022). Information asymmetry and card debt crisis in Taiwan.</a:t>
            </a:r>
            <a:r>
              <a:rPr lang="en-US" sz="1900" i="1">
                <a:ea typeface="+mn-lt"/>
                <a:cs typeface="+mn-lt"/>
              </a:rPr>
              <a:t> Bulletin of Applied Economics, 9</a:t>
            </a:r>
            <a:r>
              <a:rPr lang="en-US" sz="1900">
                <a:ea typeface="+mn-lt"/>
                <a:cs typeface="+mn-lt"/>
              </a:rPr>
              <a:t>(2), 123-145. </a:t>
            </a:r>
            <a:r>
              <a:rPr lang="en-US" sz="1900">
                <a:ea typeface="+mn-lt"/>
                <a:cs typeface="+mn-lt"/>
                <a:hlinkClick r:id="rId3"/>
              </a:rPr>
              <a:t>https://doi.org/10.47260/bae/927</a:t>
            </a:r>
            <a:endParaRPr lang="en-US" sz="1900">
              <a:ea typeface="+mn-lt"/>
              <a:cs typeface="+mn-lt"/>
            </a:endParaRPr>
          </a:p>
          <a:p>
            <a:pPr>
              <a:spcAft>
                <a:spcPts val="600"/>
              </a:spcAft>
            </a:pPr>
            <a:r>
              <a:rPr lang="en-US" sz="1900">
                <a:ea typeface="+mn-lt"/>
                <a:cs typeface="+mn-lt"/>
              </a:rPr>
              <a:t>Crook, J. N., Edelman, D. B., &amp; Thomas, L. C. (2007). Recent developments in Consumer Credit Risk Assessment. </a:t>
            </a:r>
            <a:r>
              <a:rPr lang="en-US" sz="1900" i="1">
                <a:ea typeface="+mn-lt"/>
                <a:cs typeface="+mn-lt"/>
              </a:rPr>
              <a:t>European Journal of Operational Research</a:t>
            </a:r>
            <a:r>
              <a:rPr lang="en-US" sz="1900">
                <a:ea typeface="+mn-lt"/>
                <a:cs typeface="+mn-lt"/>
              </a:rPr>
              <a:t>, </a:t>
            </a:r>
            <a:r>
              <a:rPr lang="en-US" sz="1900" i="1">
                <a:ea typeface="+mn-lt"/>
                <a:cs typeface="+mn-lt"/>
              </a:rPr>
              <a:t>  183</a:t>
            </a:r>
            <a:r>
              <a:rPr lang="en-US" sz="1900">
                <a:ea typeface="+mn-lt"/>
                <a:cs typeface="+mn-lt"/>
              </a:rPr>
              <a:t>(3), 1447–1465. </a:t>
            </a:r>
            <a:r>
              <a:rPr lang="en-US" sz="1900">
                <a:ea typeface="+mn-lt"/>
                <a:cs typeface="+mn-lt"/>
                <a:hlinkClick r:id="rId4"/>
              </a:rPr>
              <a:t>https://doi.org/10.1016/j.ejor.2006.09.100</a:t>
            </a:r>
            <a:endParaRPr lang="en-US" sz="1900">
              <a:ea typeface="+mn-lt"/>
              <a:cs typeface="+mn-lt"/>
            </a:endParaRPr>
          </a:p>
          <a:p>
            <a:pPr>
              <a:spcAft>
                <a:spcPts val="600"/>
              </a:spcAft>
            </a:pPr>
            <a:r>
              <a:rPr lang="en-US">
                <a:ea typeface="+mn-lt"/>
                <a:cs typeface="+mn-lt"/>
              </a:rPr>
              <a:t>Hamdy, A., &amp; Hussein, W. B. (2016). Credit risk assessment model based using principal component analysis and Artificial Neural Network. </a:t>
            </a:r>
            <a:r>
              <a:rPr lang="en-US" i="1">
                <a:ea typeface="+mn-lt"/>
                <a:cs typeface="+mn-lt"/>
              </a:rPr>
              <a:t>MATEC Web of Conferences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i="1">
                <a:ea typeface="+mn-lt"/>
                <a:cs typeface="+mn-lt"/>
              </a:rPr>
              <a:t>76</a:t>
            </a:r>
            <a:r>
              <a:rPr lang="en-US">
                <a:ea typeface="+mn-lt"/>
                <a:cs typeface="+mn-lt"/>
              </a:rPr>
              <a:t>, 02039. </a:t>
            </a:r>
            <a:r>
              <a:rPr lang="en-US">
                <a:ea typeface="+mn-lt"/>
                <a:cs typeface="+mn-lt"/>
                <a:hlinkClick r:id="rId5"/>
              </a:rPr>
              <a:t>https://doi.org/10.1051/matecconf/20167602039</a:t>
            </a:r>
            <a:r>
              <a:rPr lang="en-US">
                <a:ea typeface="+mn-lt"/>
                <a:cs typeface="+mn-lt"/>
              </a:rPr>
              <a:t> </a:t>
            </a:r>
            <a:endParaRPr lang="en-US">
              <a:latin typeface="Trebuchet MS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lang="en-US" err="1">
                <a:ea typeface="+mn-lt"/>
                <a:cs typeface="+mn-lt"/>
              </a:rPr>
              <a:t>Hardoon</a:t>
            </a:r>
            <a:r>
              <a:rPr lang="en-US">
                <a:ea typeface="+mn-lt"/>
                <a:cs typeface="+mn-lt"/>
              </a:rPr>
              <a:t>, K. K., Gupta, R., &amp; </a:t>
            </a:r>
            <a:r>
              <a:rPr lang="en-US" err="1">
                <a:ea typeface="+mn-lt"/>
                <a:cs typeface="+mn-lt"/>
              </a:rPr>
              <a:t>Derevensky</a:t>
            </a:r>
            <a:r>
              <a:rPr lang="en-US">
                <a:ea typeface="+mn-lt"/>
                <a:cs typeface="+mn-lt"/>
              </a:rPr>
              <a:t>, J. L. (2004). Psychosocial variables associated with adolescent gambling. Psychology of Addictive Behaviors, 18(2), 170–179. </a:t>
            </a:r>
            <a:r>
              <a:rPr lang="en-US">
                <a:ea typeface="+mn-lt"/>
                <a:cs typeface="+mn-lt"/>
                <a:hlinkClick r:id="rId6"/>
              </a:rPr>
              <a:t>https://doi.org/10.1037/0893-164x.18.2.170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Ince, H., &amp; Aktan, B. (2009). A comparison of data mining techniques for credit scoring in banking: A managerial perspective. </a:t>
            </a:r>
            <a:r>
              <a:rPr lang="en-US" i="1">
                <a:ea typeface="+mn-lt"/>
                <a:cs typeface="+mn-lt"/>
              </a:rPr>
              <a:t>Journal of Business Economics and Management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i="1">
                <a:ea typeface="+mn-lt"/>
                <a:cs typeface="+mn-lt"/>
              </a:rPr>
              <a:t>10</a:t>
            </a:r>
            <a:r>
              <a:rPr lang="en-US">
                <a:ea typeface="+mn-lt"/>
                <a:cs typeface="+mn-lt"/>
              </a:rPr>
              <a:t>(3), 233–240. </a:t>
            </a:r>
            <a:r>
              <a:rPr lang="en-US">
                <a:ea typeface="+mn-lt"/>
                <a:cs typeface="+mn-lt"/>
                <a:hlinkClick r:id="rId7"/>
              </a:rPr>
              <a:t>https://doi.org/10.3846/1611-1699.2009.10.233-240</a:t>
            </a:r>
            <a:r>
              <a:rPr lang="en-US">
                <a:ea typeface="+mn-lt"/>
                <a:cs typeface="+mn-lt"/>
              </a:rPr>
              <a:t> </a:t>
            </a:r>
            <a:endParaRPr lang="en-US">
              <a:latin typeface="Trebuchet MS"/>
              <a:cs typeface="Times New Roman"/>
            </a:endParaRPr>
          </a:p>
          <a:p>
            <a:endParaRPr lang="en-US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22264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7CD6C-616E-D20C-5862-5387D2EF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2369E-6AD5-21BE-641D-E0BFA134ECC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2046" y="365125"/>
            <a:ext cx="10515600" cy="636588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accent2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D2288-8528-56E5-DE9E-F3BF95B3182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4201" y="1185228"/>
            <a:ext cx="12023598" cy="530764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900">
                <a:latin typeface="Trebuchet MS"/>
                <a:cs typeface="Times New Roman"/>
              </a:rPr>
              <a:t>Jolliffe, I. T. (2002). </a:t>
            </a:r>
            <a:r>
              <a:rPr lang="en-US" sz="1900" i="1">
                <a:latin typeface="Trebuchet MS"/>
                <a:cs typeface="Times New Roman"/>
              </a:rPr>
              <a:t>Principal component analysis: With 28 illustrations</a:t>
            </a:r>
            <a:r>
              <a:rPr lang="en-US" sz="1900">
                <a:latin typeface="Trebuchet MS"/>
                <a:cs typeface="Times New Roman"/>
              </a:rPr>
              <a:t>. Springer. </a:t>
            </a:r>
          </a:p>
          <a:p>
            <a:pPr>
              <a:spcAft>
                <a:spcPts val="600"/>
              </a:spcAft>
            </a:pPr>
            <a:r>
              <a:rPr lang="en-US">
                <a:latin typeface="Trebuchet MS"/>
                <a:cs typeface="Times New Roman"/>
              </a:rPr>
              <a:t>LUSARDI, A., &amp; TUFANO, P. (2015). Debt literacy, financial experiences, and </a:t>
            </a:r>
            <a:r>
              <a:rPr lang="en-US" err="1">
                <a:latin typeface="Trebuchet MS"/>
                <a:cs typeface="Times New Roman"/>
              </a:rPr>
              <a:t>overindebtedness</a:t>
            </a:r>
            <a:r>
              <a:rPr lang="en-US">
                <a:latin typeface="Trebuchet MS"/>
                <a:cs typeface="Times New Roman"/>
              </a:rPr>
              <a:t>. </a:t>
            </a:r>
            <a:r>
              <a:rPr lang="en-US" i="1">
                <a:latin typeface="Trebuchet MS"/>
                <a:cs typeface="Times New Roman"/>
              </a:rPr>
              <a:t>Journal of Pension Economics and Finance</a:t>
            </a:r>
            <a:r>
              <a:rPr lang="en-US">
                <a:latin typeface="Trebuchet MS"/>
                <a:cs typeface="Times New Roman"/>
              </a:rPr>
              <a:t>, </a:t>
            </a:r>
            <a:r>
              <a:rPr lang="en-US" i="1">
                <a:latin typeface="Trebuchet MS"/>
                <a:cs typeface="Times New Roman"/>
              </a:rPr>
              <a:t>14</a:t>
            </a:r>
            <a:r>
              <a:rPr lang="en-US">
                <a:latin typeface="Trebuchet MS"/>
                <a:cs typeface="Times New Roman"/>
              </a:rPr>
              <a:t>(4), 332–368. </a:t>
            </a:r>
            <a:r>
              <a:rPr lang="en-US">
                <a:latin typeface="Trebuchet MS"/>
                <a:cs typeface="Times New Roman"/>
                <a:hlinkClick r:id="rId2"/>
              </a:rPr>
              <a:t>https://doi.org/10.1017/s1474747215000232</a:t>
            </a:r>
            <a:endParaRPr lang="en-US">
              <a:latin typeface="Trebuchet MS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lang="en-US">
                <a:latin typeface="Trebuchet MS"/>
                <a:cs typeface="Times New Roman"/>
              </a:rPr>
              <a:t>Rosenberg, E., &amp; Gleit, A. (1994). Quantitative methods in credit management: A survey. </a:t>
            </a:r>
            <a:r>
              <a:rPr lang="en-US" i="1">
                <a:latin typeface="Trebuchet MS"/>
                <a:cs typeface="Times New Roman"/>
              </a:rPr>
              <a:t>Operations Research</a:t>
            </a:r>
            <a:r>
              <a:rPr lang="en-US">
                <a:latin typeface="Trebuchet MS"/>
                <a:cs typeface="Times New Roman"/>
              </a:rPr>
              <a:t>, </a:t>
            </a:r>
            <a:r>
              <a:rPr lang="en-US" i="1">
                <a:latin typeface="Trebuchet MS"/>
                <a:cs typeface="Times New Roman"/>
              </a:rPr>
              <a:t>42</a:t>
            </a:r>
            <a:r>
              <a:rPr lang="en-US">
                <a:latin typeface="Trebuchet MS"/>
                <a:cs typeface="Times New Roman"/>
              </a:rPr>
              <a:t>(4), 589. </a:t>
            </a:r>
            <a:r>
              <a:rPr lang="en-US" u="sng">
                <a:latin typeface="Trebuchet MS"/>
                <a:cs typeface="Times New Roman"/>
                <a:hlinkClick r:id="rId3"/>
              </a:rPr>
              <a:t>https://doi.org/10.1287/opre.42.4.589</a:t>
            </a:r>
            <a:endParaRPr lang="en-US">
              <a:latin typeface="Trebuchet MS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lang="en-US" err="1">
                <a:latin typeface="Trebuchet MS"/>
                <a:cs typeface="Times New Roman"/>
              </a:rPr>
              <a:t>Šarlija</a:t>
            </a:r>
            <a:r>
              <a:rPr lang="en-US">
                <a:latin typeface="Trebuchet MS"/>
                <a:cs typeface="Times New Roman"/>
              </a:rPr>
              <a:t>, N. </a:t>
            </a:r>
            <a:r>
              <a:rPr lang="en-US" err="1">
                <a:latin typeface="Trebuchet MS"/>
                <a:cs typeface="Times New Roman"/>
              </a:rPr>
              <a:t>i</a:t>
            </a:r>
            <a:r>
              <a:rPr lang="en-US">
                <a:latin typeface="Trebuchet MS"/>
                <a:cs typeface="Times New Roman"/>
              </a:rPr>
              <a:t> </a:t>
            </a:r>
            <a:r>
              <a:rPr lang="en-US" err="1">
                <a:latin typeface="Trebuchet MS"/>
                <a:cs typeface="Times New Roman"/>
              </a:rPr>
              <a:t>Jeger</a:t>
            </a:r>
            <a:r>
              <a:rPr lang="en-US">
                <a:latin typeface="Trebuchet MS"/>
                <a:cs typeface="Times New Roman"/>
              </a:rPr>
              <a:t>, M. (2011). COMPARING FINANCIAL DISTRESS PREDICTION MODELS BEFORE AND DURING RECESSION. </a:t>
            </a:r>
            <a:r>
              <a:rPr lang="en-US" i="1">
                <a:latin typeface="Trebuchet MS"/>
                <a:cs typeface="Times New Roman"/>
              </a:rPr>
              <a:t>Croatian Operational Research Review, 2</a:t>
            </a:r>
            <a:r>
              <a:rPr lang="en-US">
                <a:latin typeface="Trebuchet MS"/>
                <a:cs typeface="Times New Roman"/>
              </a:rPr>
              <a:t> (1), 133-142. </a:t>
            </a:r>
            <a:r>
              <a:rPr lang="en-US" err="1">
                <a:latin typeface="Trebuchet MS"/>
                <a:cs typeface="Times New Roman"/>
              </a:rPr>
              <a:t>Preuzetos</a:t>
            </a:r>
            <a:r>
              <a:rPr lang="en-US">
                <a:latin typeface="Trebuchet MS"/>
                <a:cs typeface="Times New Roman"/>
              </a:rPr>
              <a:t> </a:t>
            </a:r>
            <a:r>
              <a:rPr lang="en-US">
                <a:latin typeface="Trebuchet MS"/>
                <a:cs typeface="Times New Roman"/>
                <a:hlinkClick r:id="rId4"/>
              </a:rPr>
              <a:t>https://hrcak.srce.hr/96658</a:t>
            </a:r>
            <a:endParaRPr lang="en-US" u="sng">
              <a:latin typeface="Trebuchet MS"/>
              <a:cs typeface="Times New Roman"/>
            </a:endParaRPr>
          </a:p>
          <a:p>
            <a:r>
              <a:rPr lang="en-US">
                <a:latin typeface="Trebuchet MS"/>
                <a:cs typeface="Times New Roman"/>
              </a:rPr>
              <a:t>Yeh</a:t>
            </a:r>
            <a:r>
              <a:rPr lang="en-US">
                <a:ea typeface="+mn-lt"/>
                <a:cs typeface="+mn-lt"/>
              </a:rPr>
              <a:t>, I.-C., &amp; Lien, C.-H. (2009). The comparisons of data mining techniques for the predictive accuracy of probability of default of credit card clients. </a:t>
            </a:r>
            <a:r>
              <a:rPr lang="en-US" i="1">
                <a:ea typeface="+mn-lt"/>
                <a:cs typeface="+mn-lt"/>
              </a:rPr>
              <a:t>Expert Systems with Applications, 36</a:t>
            </a:r>
            <a:r>
              <a:rPr lang="en-US">
                <a:ea typeface="+mn-lt"/>
                <a:cs typeface="+mn-lt"/>
              </a:rPr>
              <a:t>(2), 2473–2480. </a:t>
            </a:r>
            <a:r>
              <a:rPr lang="en-US">
                <a:ea typeface="+mn-lt"/>
                <a:cs typeface="+mn-lt"/>
                <a:hlinkClick r:id="rId5"/>
              </a:rPr>
              <a:t>https://doi.org/10.1016/j.eswa.2007.12.020</a:t>
            </a:r>
            <a:endParaRPr lang="en-US" u="sng">
              <a:latin typeface="Trebuchet MS"/>
              <a:cs typeface="Times New Roman"/>
            </a:endParaRPr>
          </a:p>
          <a:p>
            <a:endParaRPr lang="en-US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879117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1822</Words>
  <Application>Microsoft Macintosh PowerPoint</Application>
  <PresentationFormat>Widescreen</PresentationFormat>
  <Paragraphs>155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Arial</vt:lpstr>
      <vt:lpstr>Courier New</vt:lpstr>
      <vt:lpstr>Times New Roman</vt:lpstr>
      <vt:lpstr>Trebuchet MS</vt:lpstr>
      <vt:lpstr>Wingdings</vt:lpstr>
      <vt:lpstr>Wingdings 3</vt:lpstr>
      <vt:lpstr>Facet</vt:lpstr>
      <vt:lpstr>Default of Credit Card Clients</vt:lpstr>
      <vt:lpstr>Introduction</vt:lpstr>
      <vt:lpstr>Literature Review</vt:lpstr>
      <vt:lpstr>Research Questions </vt:lpstr>
      <vt:lpstr>Methods</vt:lpstr>
      <vt:lpstr>Results – 1st Stepwise Binary Logistic Regression </vt:lpstr>
      <vt:lpstr>Results – 2nd Logistic Regression + PCA</vt:lpstr>
      <vt:lpstr>Results – Relationship Insights</vt:lpstr>
      <vt:lpstr>Results – Relationship Insights </vt:lpstr>
      <vt:lpstr>Results – Relationship Insights </vt:lpstr>
      <vt:lpstr>Results PCA</vt:lpstr>
      <vt:lpstr>Results - PCA</vt:lpstr>
      <vt:lpstr>Results - CCA</vt:lpstr>
      <vt:lpstr>Results - CCA - Heatmap</vt:lpstr>
      <vt:lpstr>Results - EFA</vt:lpstr>
      <vt:lpstr>Results - EFA</vt:lpstr>
      <vt:lpstr>Limitations</vt:lpstr>
      <vt:lpstr>Future Work</vt:lpstr>
      <vt:lpstr>Conclusion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Asis, Alexa</cp:lastModifiedBy>
  <cp:revision>3</cp:revision>
  <cp:lastPrinted>2025-06-11T03:45:11Z</cp:lastPrinted>
  <dcterms:created xsi:type="dcterms:W3CDTF">2025-05-31T18:58:48Z</dcterms:created>
  <dcterms:modified xsi:type="dcterms:W3CDTF">2025-06-11T03:46:47Z</dcterms:modified>
</cp:coreProperties>
</file>